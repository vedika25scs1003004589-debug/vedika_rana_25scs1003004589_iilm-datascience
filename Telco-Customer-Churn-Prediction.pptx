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hnschrift Light Condensed" panose="020B0502040204020203" pitchFamily="34" charset="0"/>
      <p:regular r:id="rId13"/>
    </p:embeddedFont>
    <p:embeddedFont>
      <p:font typeface="Bahnschrift Light SemiCondensed" panose="020B0502040204020203" pitchFamily="34" charset="0"/>
      <p:regular r:id="rId14"/>
    </p:embeddedFont>
    <p:embeddedFont>
      <p:font typeface="Bahnschrift SemiLight SemiConde" panose="020B0502040204020203" pitchFamily="34" charset="0"/>
      <p:regular r:id="rId15"/>
    </p:embeddedFont>
    <p:embeddedFont>
      <p:font typeface="DM Sans Semi Bold" panose="020B0604020202020204" charset="0"/>
      <p:regular r:id="rId16"/>
    </p:embeddedFont>
    <p:embeddedFont>
      <p:font typeface="Inter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62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5224" y="26401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Telco Customer Churn Prediction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3169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Predicting Customer Retention using Machine Learning</a:t>
            </a:r>
            <a:endParaRPr lang="en-US" sz="17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F6A6B-F60F-7D4E-D972-0CF977D4F481}"/>
              </a:ext>
            </a:extLst>
          </p:cNvPr>
          <p:cNvSpPr txBox="1"/>
          <p:nvPr/>
        </p:nvSpPr>
        <p:spPr>
          <a:xfrm>
            <a:off x="6280190" y="5664819"/>
            <a:ext cx="210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Light SemiConde" panose="020B0502040204020203" pitchFamily="34" charset="0"/>
              </a:rPr>
              <a:t>Name : Vedika Rana </a:t>
            </a:r>
            <a:endParaRPr lang="en-IN" dirty="0">
              <a:latin typeface="Bahnschrift SemiLight SemiConde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5570B-B1FB-4A89-66F5-A8BF35CA4C98}"/>
              </a:ext>
            </a:extLst>
          </p:cNvPr>
          <p:cNvSpPr txBox="1"/>
          <p:nvPr/>
        </p:nvSpPr>
        <p:spPr>
          <a:xfrm>
            <a:off x="6280190" y="6011849"/>
            <a:ext cx="309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Roll No. : 25SCS1003004589</a:t>
            </a:r>
            <a:endParaRPr lang="en-IN" dirty="0"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471C6-732C-EB50-1F20-92FFD655F2BD}"/>
              </a:ext>
            </a:extLst>
          </p:cNvPr>
          <p:cNvSpPr txBox="1"/>
          <p:nvPr/>
        </p:nvSpPr>
        <p:spPr>
          <a:xfrm>
            <a:off x="6280190" y="6394554"/>
            <a:ext cx="224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Light SemiCondensed" panose="020B0502040204020203" pitchFamily="34" charset="0"/>
              </a:rPr>
              <a:t>Section : 1CSE31</a:t>
            </a:r>
            <a:endParaRPr lang="en-IN" dirty="0">
              <a:latin typeface="Bahnschrift Light Semi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041B7-5A06-9D5B-06A6-64C976A602F6}"/>
              </a:ext>
            </a:extLst>
          </p:cNvPr>
          <p:cNvSpPr txBox="1"/>
          <p:nvPr/>
        </p:nvSpPr>
        <p:spPr>
          <a:xfrm>
            <a:off x="10945428" y="5550184"/>
            <a:ext cx="2242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ahnschrift Light SemiCondensed" panose="020B0502040204020203" pitchFamily="34" charset="0"/>
              </a:rPr>
              <a:t>Guide :</a:t>
            </a:r>
          </a:p>
          <a:p>
            <a:r>
              <a:rPr lang="en-US" dirty="0"/>
              <a:t>Mr. Ramavath Ganesh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2823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Statement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1962507"/>
            <a:ext cx="7897178" cy="52647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19298" y="1841540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Challenge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19298" y="2371249"/>
            <a:ext cx="4237315" cy="2626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Telecommunications companies face exceptionally high customer churn rates in today's competitive market. Every lost customer represents direct revenue loss and increased acquisition costs. Identifying at-risk customers manually is nearly impossible with thousands of active accounts.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19298" y="5196602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Goal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19298" y="5726311"/>
            <a:ext cx="4237315" cy="164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an automated predictive system using machine learning to accurately forecast which customers are likely to churn, enabling proactive retention strategies.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13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708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7,043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3888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7929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Complete dataset with active and churned customers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35708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3888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87929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Diverse data points from demographics to service usage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4973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Telco Customer Churn Dataset provides comprehensive information spanning three key categories: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11540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5342215"/>
            <a:ext cx="34001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583263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Age, gender, location, and tenure with the company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216962" y="511540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43776" y="5342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Service Details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3776" y="583263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Internet service type, phone lines, streaming services, and contract type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511540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9866948" y="5342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Billing Information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66948" y="583263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Monthly charges, total charges, payment methods, and contract duration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1" y="127516"/>
            <a:ext cx="5316379" cy="7974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38664"/>
            <a:ext cx="64154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Understanding &amp; Cleaning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80190" y="1461611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80190" y="1727835"/>
            <a:ext cx="755642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185856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Column Removal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80190" y="2200751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Dropped customerID as it provided no predictive value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80190" y="2693908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80190" y="2960132"/>
            <a:ext cx="755642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8"/>
          <p:cNvSpPr/>
          <p:nvPr/>
        </p:nvSpPr>
        <p:spPr>
          <a:xfrm>
            <a:off x="6280190" y="30908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Missing Values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280190" y="3433048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Handled missing values in TotalCharges column by removing affected records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80190" y="3926205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80190" y="4192429"/>
            <a:ext cx="755642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6280190" y="4323159"/>
            <a:ext cx="224540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Type Conversion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80190" y="4665345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Converted numerical columns to appropriate data types for analysis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80190" y="5158502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80190" y="5424726"/>
            <a:ext cx="755642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6"/>
          <p:cNvSpPr/>
          <p:nvPr/>
        </p:nvSpPr>
        <p:spPr>
          <a:xfrm>
            <a:off x="6280190" y="555545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Final Validation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280190" y="5897642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Verified no remaining null values across all 21 features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80190" y="6406753"/>
            <a:ext cx="7556421" cy="1084183"/>
          </a:xfrm>
          <a:prstGeom prst="roundRect">
            <a:avLst>
              <a:gd name="adj" fmla="val 2354"/>
            </a:avLst>
          </a:prstGeom>
          <a:solidFill>
            <a:srgbClr val="B6D6FC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11" y="6653332"/>
            <a:ext cx="212646" cy="17002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32878" y="6576774"/>
            <a:ext cx="6833711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Insight:</a:t>
            </a:r>
            <a:r>
              <a:rPr 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The dataset revealed significant class imbalance, with substantially more non-churn customers than churned customers, requiring special handling during model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7" y="152995"/>
            <a:ext cx="5282327" cy="7923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62251"/>
            <a:ext cx="630126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80190" y="195941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Numerical Analysis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280190" y="2461974"/>
            <a:ext cx="3529251" cy="230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Tenure distribution showed bimodal pattern with peaks at short and long durations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MonthlyCharges displayed even distribution across range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TotalCharges exhibited right-skewed distribution with long tail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80190" y="4927759"/>
            <a:ext cx="352925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80190" y="54217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Correlation Insights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80190" y="5924312"/>
            <a:ext cx="3529251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Strong positive correlation between tenure and TotalCharges, as expected with longer customers accumulating more charges.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314980" y="195941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Categorical Analysis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314980" y="2461974"/>
            <a:ext cx="3529251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Contract type and InternetService emerged as significant churn indicators. Month-to-month contracts showed higher churn rates compared to annual or biennial contracts.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314980" y="4488894"/>
            <a:ext cx="352925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14980" y="4964430"/>
            <a:ext cx="352925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14980" y="545842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Service Impact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314980" y="5960983"/>
            <a:ext cx="3529251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Fiber optic internet service correlated with higher churn rates, while DSL customers showed better retention.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2" y="144423"/>
            <a:ext cx="5293757" cy="79406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86897"/>
            <a:ext cx="738759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Methodology &amp; Model Selection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6280190" y="1735098"/>
            <a:ext cx="7556421" cy="1401247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3050" y="1757958"/>
            <a:ext cx="771168" cy="1355527"/>
          </a:xfrm>
          <a:prstGeom prst="roundRect">
            <a:avLst>
              <a:gd name="adj" fmla="val 193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544032" y="2254925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238048" y="195072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Approach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238048" y="2350175"/>
            <a:ext cx="638294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Supervised Machine Learning for binary classification (churn vs. non-churn)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80190" y="3300174"/>
            <a:ext cx="7556421" cy="115681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3050" y="3323034"/>
            <a:ext cx="771168" cy="1111091"/>
          </a:xfrm>
          <a:prstGeom prst="roundRect">
            <a:avLst>
              <a:gd name="adj" fmla="val 193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44032" y="3697843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238048" y="351579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Candidate Models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238048" y="3915251"/>
            <a:ext cx="6382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Decision Tree, Random Forest, and XGBoost algorithms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80190" y="4620816"/>
            <a:ext cx="7556421" cy="115681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3050" y="4643676"/>
            <a:ext cx="771168" cy="1111091"/>
          </a:xfrm>
          <a:prstGeom prst="roundRect">
            <a:avLst>
              <a:gd name="adj" fmla="val 193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6544032" y="501848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238048" y="48364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Evaluation Criteria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238048" y="5235892"/>
            <a:ext cx="638294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Accuracy, precision, recall, F1 score, and cross-validation stability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80190" y="5941457"/>
            <a:ext cx="7556421" cy="1401247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03050" y="5964317"/>
            <a:ext cx="771168" cy="1355527"/>
          </a:xfrm>
          <a:prstGeom prst="roundRect">
            <a:avLst>
              <a:gd name="adj" fmla="val 193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6544032" y="646128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7238048" y="615707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Final Selection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7238048" y="6556534"/>
            <a:ext cx="638294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Random Forest demonstrated superior performance and generalization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0561"/>
            <a:ext cx="4859655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Implementation Workflow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937736" y="1618774"/>
            <a:ext cx="156210" cy="703183"/>
          </a:xfrm>
          <a:prstGeom prst="roundRect">
            <a:avLst>
              <a:gd name="adj" fmla="val 15008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1407" y="1516142"/>
            <a:ext cx="468868" cy="468868"/>
          </a:xfrm>
          <a:prstGeom prst="roundRect">
            <a:avLst>
              <a:gd name="adj" fmla="val 97511"/>
            </a:avLst>
          </a:prstGeom>
          <a:solidFill>
            <a:srgbClr val="F2F2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565" y="1633418"/>
            <a:ext cx="234434" cy="234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7908" y="1540550"/>
            <a:ext cx="2299216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Loading &amp; Cleaning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57908" y="1849279"/>
            <a:ext cx="12491085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Initial data import and quality assurance procedures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72170" y="2664143"/>
            <a:ext cx="156210" cy="703183"/>
          </a:xfrm>
          <a:prstGeom prst="roundRect">
            <a:avLst>
              <a:gd name="adj" fmla="val 15008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1015841" y="2561511"/>
            <a:ext cx="468868" cy="468868"/>
          </a:xfrm>
          <a:prstGeom prst="roundRect">
            <a:avLst>
              <a:gd name="adj" fmla="val 97511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999" y="2678787"/>
            <a:ext cx="234434" cy="2344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92342" y="2585918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Encoding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92342" y="2894648"/>
            <a:ext cx="12256651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Converted categorical variables using appropriate encoding techniques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406604" y="3709511"/>
            <a:ext cx="156210" cy="703183"/>
          </a:xfrm>
          <a:prstGeom prst="roundRect">
            <a:avLst>
              <a:gd name="adj" fmla="val 15008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1250275" y="3606879"/>
            <a:ext cx="468868" cy="468868"/>
          </a:xfrm>
          <a:prstGeom prst="roundRect">
            <a:avLst>
              <a:gd name="adj" fmla="val 97511"/>
            </a:avLst>
          </a:prstGeom>
          <a:solidFill>
            <a:srgbClr val="F2F2F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7433" y="3724156"/>
            <a:ext cx="234434" cy="2344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6776" y="3631287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Train-Test Split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26776" y="3940016"/>
            <a:ext cx="1202221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Divided data 80:20 ratio for validation purposes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641038" y="4754880"/>
            <a:ext cx="156210" cy="703183"/>
          </a:xfrm>
          <a:prstGeom prst="roundRect">
            <a:avLst>
              <a:gd name="adj" fmla="val 15008"/>
            </a:avLst>
          </a:prstGeom>
          <a:solidFill>
            <a:srgbClr val="F2F2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484709" y="4652248"/>
            <a:ext cx="468868" cy="468868"/>
          </a:xfrm>
          <a:prstGeom prst="roundRect">
            <a:avLst>
              <a:gd name="adj" fmla="val 97511"/>
            </a:avLst>
          </a:prstGeom>
          <a:solidFill>
            <a:srgbClr val="F2F2F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1867" y="4769525"/>
            <a:ext cx="234434" cy="2344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61210" y="4676656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SMOTE Application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061210" y="4985385"/>
            <a:ext cx="11787783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Applied Synthetic Minority Oversampling to address class imbalance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406604" y="5800249"/>
            <a:ext cx="156210" cy="703183"/>
          </a:xfrm>
          <a:prstGeom prst="roundRect">
            <a:avLst>
              <a:gd name="adj" fmla="val 15008"/>
            </a:avLst>
          </a:prstGeom>
          <a:solidFill>
            <a:srgbClr val="F2F2F2"/>
          </a:solidFill>
          <a:ln/>
        </p:spPr>
      </p:sp>
      <p:sp>
        <p:nvSpPr>
          <p:cNvPr id="24" name="Shape 18"/>
          <p:cNvSpPr/>
          <p:nvPr/>
        </p:nvSpPr>
        <p:spPr>
          <a:xfrm>
            <a:off x="1250275" y="5697617"/>
            <a:ext cx="468868" cy="468868"/>
          </a:xfrm>
          <a:prstGeom prst="roundRect">
            <a:avLst>
              <a:gd name="adj" fmla="val 97511"/>
            </a:avLst>
          </a:prstGeom>
          <a:solidFill>
            <a:srgbClr val="F2F2F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7433" y="5814893"/>
            <a:ext cx="234434" cy="2344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26776" y="5722025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826776" y="6030754"/>
            <a:ext cx="12022217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Fitted all three algorithms to balanced training data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1172170" y="6845618"/>
            <a:ext cx="156210" cy="703183"/>
          </a:xfrm>
          <a:prstGeom prst="roundRect">
            <a:avLst>
              <a:gd name="adj" fmla="val 15008"/>
            </a:avLst>
          </a:prstGeom>
          <a:solidFill>
            <a:srgbClr val="F2F2F2"/>
          </a:solidFill>
          <a:ln/>
        </p:spPr>
      </p:sp>
      <p:sp>
        <p:nvSpPr>
          <p:cNvPr id="29" name="Shape 22"/>
          <p:cNvSpPr/>
          <p:nvPr/>
        </p:nvSpPr>
        <p:spPr>
          <a:xfrm>
            <a:off x="1015841" y="6742986"/>
            <a:ext cx="468868" cy="468868"/>
          </a:xfrm>
          <a:prstGeom prst="roundRect">
            <a:avLst>
              <a:gd name="adj" fmla="val 97511"/>
            </a:avLst>
          </a:prstGeom>
          <a:solidFill>
            <a:srgbClr val="F2F2F2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2999" y="6860262"/>
            <a:ext cx="234434" cy="23443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92342" y="6767393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1592342" y="7076122"/>
            <a:ext cx="12256651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Performed 5-fold cross-validation for robust performance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484" y="352782"/>
            <a:ext cx="462545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Training &amp; Performance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46484" y="894874"/>
            <a:ext cx="4531281" cy="859512"/>
          </a:xfrm>
          <a:prstGeom prst="roundRect">
            <a:avLst>
              <a:gd name="adj" fmla="val 222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574000" y="1022390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74000" y="1264801"/>
            <a:ext cx="427624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78% 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4000" y="1467326"/>
            <a:ext cx="427624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Basic tree structure with limited generalization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49441" y="894874"/>
            <a:ext cx="4531400" cy="859512"/>
          </a:xfrm>
          <a:prstGeom prst="roundRect">
            <a:avLst>
              <a:gd name="adj" fmla="val 222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176957" y="1022390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76957" y="1264801"/>
            <a:ext cx="4276368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84%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76957" y="1467326"/>
            <a:ext cx="4276368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Ensemble method with best overall performance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52516" y="894874"/>
            <a:ext cx="4531281" cy="859512"/>
          </a:xfrm>
          <a:prstGeom prst="roundRect">
            <a:avLst>
              <a:gd name="adj" fmla="val 222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80032" y="1022390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XGBoost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780032" y="1264801"/>
            <a:ext cx="427624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83%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0032" y="1467326"/>
            <a:ext cx="427624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Gradient boosting with strong results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84" y="1915835"/>
            <a:ext cx="8820388" cy="58802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85722" y="4387096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Training Steps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85722" y="4658201"/>
            <a:ext cx="46056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Applied SMOTE to balance dataset classes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Performed 5-fold cross-validation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Selected Random Forest as final model</a:t>
            </a:r>
            <a:endParaRPr lang="en-US" sz="100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Validated stability across folds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509" y="108704"/>
            <a:ext cx="5341382" cy="8012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690682"/>
            <a:ext cx="3628311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Results and Analysis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81407" y="1181100"/>
            <a:ext cx="18320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Performance Metrics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08121" y="1619607"/>
            <a:ext cx="4927759" cy="47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78%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3664863" y="2240518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407" y="2522934"/>
            <a:ext cx="75811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Overall correctness of predictions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08121" y="2971443"/>
            <a:ext cx="4927759" cy="47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58%</a:t>
            </a:r>
            <a:endParaRPr lang="en-US" sz="3750" dirty="0"/>
          </a:p>
        </p:txBody>
      </p:sp>
      <p:sp>
        <p:nvSpPr>
          <p:cNvPr id="10" name="Text 7"/>
          <p:cNvSpPr/>
          <p:nvPr/>
        </p:nvSpPr>
        <p:spPr>
          <a:xfrm>
            <a:off x="3664863" y="3592354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407" y="3874770"/>
            <a:ext cx="75811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Proportion of predicted churn that actually churned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08121" y="4323278"/>
            <a:ext cx="4927759" cy="47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59%</a:t>
            </a:r>
            <a:endParaRPr lang="en-US" sz="3750" dirty="0"/>
          </a:p>
        </p:txBody>
      </p:sp>
      <p:sp>
        <p:nvSpPr>
          <p:cNvPr id="13" name="Text 10"/>
          <p:cNvSpPr/>
          <p:nvPr/>
        </p:nvSpPr>
        <p:spPr>
          <a:xfrm>
            <a:off x="3664863" y="4944189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1407" y="5226606"/>
            <a:ext cx="75811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Proportion of actual churn correctly identified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108121" y="5675114"/>
            <a:ext cx="4927759" cy="47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58%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3664863" y="6296025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1407" y="6578441"/>
            <a:ext cx="75811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Harmonic mean of precision and recall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81407" y="6873240"/>
            <a:ext cx="7581186" cy="665678"/>
          </a:xfrm>
          <a:prstGeom prst="roundRect">
            <a:avLst>
              <a:gd name="adj" fmla="val 3270"/>
            </a:avLst>
          </a:prstGeom>
          <a:solidFill>
            <a:srgbClr val="B6D6F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25" y="7064692"/>
            <a:ext cx="181332" cy="1450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52776" y="7002185"/>
            <a:ext cx="6964799" cy="38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Insight:</a:t>
            </a: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The model demonstrates reasonable ability to detect churn customers, though there remains room for improvement, particularly in reducing false positives and negatives.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7115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809869"/>
            <a:ext cx="4211122" cy="2749510"/>
          </a:xfrm>
          <a:prstGeom prst="roundRect">
            <a:avLst>
              <a:gd name="adj" fmla="val 1176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09174" y="2025253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1C97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934" y="2202894"/>
            <a:ext cx="290870" cy="290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9174" y="287631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Targeted Retention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09174" y="3335655"/>
            <a:ext cx="3780353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Proactively reach high-risk customers with personalized offers and incentives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209580" y="1809869"/>
            <a:ext cx="4211122" cy="2749510"/>
          </a:xfrm>
          <a:prstGeom prst="roundRect">
            <a:avLst>
              <a:gd name="adj" fmla="val 1176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424964" y="2025253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1C977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2724" y="2202894"/>
            <a:ext cx="290870" cy="2908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4964" y="287631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Revenue Protection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24964" y="3335655"/>
            <a:ext cx="37803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Reduce customer loss and associated revenue decline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625370" y="1809869"/>
            <a:ext cx="4211122" cy="2749510"/>
          </a:xfrm>
          <a:prstGeom prst="roundRect">
            <a:avLst>
              <a:gd name="adj" fmla="val 1176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40754" y="2025253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1C97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8514" y="2202894"/>
            <a:ext cx="290870" cy="2908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40754" y="2876312"/>
            <a:ext cx="277415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Data-Driven Strategy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40754" y="3335655"/>
            <a:ext cx="3780353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Make informed decisions based on predictive analytics rather than intuition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93790" y="499431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Success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793790" y="5535573"/>
            <a:ext cx="6258520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Successfully developed a churn prediction system using Random Forest, achieving 78% accuracy with balanced precision and recall. The model identifies at-risk customers with reasonable reliability.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585710" y="4994315"/>
            <a:ext cx="279677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Improvements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7585710" y="5535573"/>
            <a:ext cx="6258520" cy="1895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Incorporate additional features like customer service interactions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Experiment with deep learning architectures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 real-time prediction pipeline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model monitoring and retraining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681</Words>
  <Application>Microsoft Office PowerPoint</Application>
  <PresentationFormat>Custom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DM Sans Semi Bold</vt:lpstr>
      <vt:lpstr>DM Sans Light</vt:lpstr>
      <vt:lpstr>Arial</vt:lpstr>
      <vt:lpstr>Bahnschrift SemiLight SemiConde</vt:lpstr>
      <vt:lpstr>Bahnschrift Light Condensed</vt:lpstr>
      <vt:lpstr>Inter Medium</vt:lpstr>
      <vt:lpstr>Bahnschrift Light SemiCondensed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Vedika Rana</cp:lastModifiedBy>
  <cp:revision>2</cp:revision>
  <dcterms:created xsi:type="dcterms:W3CDTF">2026-04-20T16:55:32Z</dcterms:created>
  <dcterms:modified xsi:type="dcterms:W3CDTF">2026-04-20T17:22:17Z</dcterms:modified>
</cp:coreProperties>
</file>